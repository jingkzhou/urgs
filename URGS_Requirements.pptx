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21000" y="741759"/>
            <a:ext cx="4102001" cy="3659981"/>
          </a:xfrm>
          <a:prstGeom prst="roundRect">
            <a:avLst>
              <a:gd name="adj" fmla="val 3470"/>
            </a:avLst>
          </a:prstGeom>
          <a:solidFill>
            <a:srgbClr val="2E4053">
              <a:alpha val="30000"/>
            </a:srgbClr>
          </a:solidFill>
          <a:ln w="19050">
            <a:solidFill>
              <a:srgbClr val="2E405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17520" y="1608981"/>
            <a:ext cx="310896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680"/>
              </a:spcBef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URGS 项目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017520" y="2576215"/>
            <a:ext cx="31089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992"/>
              </a:spcBef>
              <a:spcAft>
                <a:spcPts val="1992"/>
              </a:spcAft>
              <a:buNone/>
            </a:pPr>
            <a:r>
              <a:rPr lang="en-US" sz="2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业务需求文档演示文稿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017520" y="3385840"/>
            <a:ext cx="31089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统一资源治理与调度平台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-91440" y="4619774"/>
            <a:ext cx="93268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URGS (Unified Resource Governance System) |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71525"/>
            <a:ext cx="9144000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66688"/>
            <a:ext cx="16757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项目概述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689943"/>
            <a:ext cx="854964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URGS 是一套统一的资源治理与调度平台，核心目标是：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2538115"/>
            <a:ext cx="8382000" cy="1924943"/>
          </a:xfrm>
          <a:prstGeom prst="roundRect">
            <a:avLst>
              <a:gd name="adj" fmla="val 2639"/>
            </a:avLst>
          </a:prstGeom>
          <a:solidFill>
            <a:srgbClr val="2837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9575" y="2538115"/>
            <a:ext cx="0" cy="1924943"/>
          </a:xfrm>
          <a:prstGeom prst="line">
            <a:avLst/>
          </a:prstGeom>
          <a:noFill/>
          <a:ln w="57150">
            <a:solidFill>
              <a:srgbClr val="5DAD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2051" y="3020616"/>
            <a:ext cx="7973389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覆盖能力</a:t>
            </a:r>
            <a:pPr algn="l" indent="0" marL="0">
              <a:lnSpc>
                <a:spcPts val="28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：任务调度、元数据治理、数据血缘、智能检索问答与可视化运维。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2051" y="3614886"/>
            <a:ext cx="7973389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系统协同</a:t>
            </a:r>
            <a:pPr algn="l" indent="0" marL="0">
              <a:lnSpc>
                <a:spcPts val="28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：实现企业级复杂环境下的标准化调度与深度治理。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71525"/>
            <a:ext cx="9144000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66688"/>
            <a:ext cx="16757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系统组成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161901"/>
            <a:ext cx="2667000" cy="1096714"/>
          </a:xfrm>
          <a:prstGeom prst="roundRect">
            <a:avLst>
              <a:gd name="adj" fmla="val 6948"/>
            </a:avLst>
          </a:prstGeom>
          <a:solidFill>
            <a:srgbClr val="283747"/>
          </a:solidFill>
          <a:ln w="9525">
            <a:solidFill>
              <a:srgbClr val="3449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7475" y="1298377"/>
            <a:ext cx="24419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28"/>
              </a:spcAft>
              <a:buNone/>
            </a:pPr>
            <a:r>
              <a:rPr lang="en-US" sz="1600" b="1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urgs-api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7475" y="1695599"/>
            <a:ext cx="244193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核心后端。管理任务、元数据、权限及监控。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38500" y="1161901"/>
            <a:ext cx="2667000" cy="1096714"/>
          </a:xfrm>
          <a:prstGeom prst="roundRect">
            <a:avLst>
              <a:gd name="adj" fmla="val 6948"/>
            </a:avLst>
          </a:prstGeom>
          <a:solidFill>
            <a:srgbClr val="283747"/>
          </a:solidFill>
          <a:ln w="9525">
            <a:solidFill>
              <a:srgbClr val="3449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74975" y="1298377"/>
            <a:ext cx="24419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28"/>
              </a:spcAft>
              <a:buNone/>
            </a:pPr>
            <a:r>
              <a:rPr lang="en-US" sz="1600" b="1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urgs-executor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74975" y="1695599"/>
            <a:ext cx="244193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执行器。拉取并执行脚本、SQL、数据同步任务。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0" y="1161901"/>
            <a:ext cx="2667000" cy="1096714"/>
          </a:xfrm>
          <a:prstGeom prst="roundRect">
            <a:avLst>
              <a:gd name="adj" fmla="val 6948"/>
            </a:avLst>
          </a:prstGeom>
          <a:solidFill>
            <a:srgbClr val="283747"/>
          </a:solidFill>
          <a:ln w="9525">
            <a:solidFill>
              <a:srgbClr val="3449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32475" y="1298377"/>
            <a:ext cx="24419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28"/>
              </a:spcAft>
              <a:buNone/>
            </a:pPr>
            <a:r>
              <a:rPr lang="en-US" sz="1600" b="1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urgs-web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32475" y="1695599"/>
            <a:ext cx="244193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前端门户。可视化编排、运维监控与系统管理。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1000" y="2449116"/>
            <a:ext cx="2667000" cy="1096714"/>
          </a:xfrm>
          <a:prstGeom prst="roundRect">
            <a:avLst>
              <a:gd name="adj" fmla="val 6948"/>
            </a:avLst>
          </a:prstGeom>
          <a:solidFill>
            <a:srgbClr val="283747"/>
          </a:solidFill>
          <a:ln w="9525">
            <a:solidFill>
              <a:srgbClr val="3449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7475" y="2585591"/>
            <a:ext cx="24419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28"/>
              </a:spcAft>
              <a:buNone/>
            </a:pPr>
            <a:r>
              <a:rPr lang="en-US" sz="1600" b="1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urgs-rag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7475" y="2982813"/>
            <a:ext cx="244193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检索。知识库向量化、语义检索、SQL 解释。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38500" y="2449116"/>
            <a:ext cx="2667000" cy="1096714"/>
          </a:xfrm>
          <a:prstGeom prst="roundRect">
            <a:avLst>
              <a:gd name="adj" fmla="val 6948"/>
            </a:avLst>
          </a:prstGeom>
          <a:solidFill>
            <a:srgbClr val="283747"/>
          </a:solidFill>
          <a:ln w="9525">
            <a:solidFill>
              <a:srgbClr val="3449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74975" y="2585591"/>
            <a:ext cx="24419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28"/>
              </a:spcAft>
              <a:buNone/>
            </a:pPr>
            <a:r>
              <a:rPr lang="en-US" sz="1600" b="1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lineage-engine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74975" y="2982813"/>
            <a:ext cx="244193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血缘引擎。支持多方言解析，字段级血缘追踪。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71525"/>
            <a:ext cx="9144000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66688"/>
            <a:ext cx="26084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任务调度与编排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365200"/>
            <a:ext cx="3746599" cy="191750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任务管理</a:t>
            </a:r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：支持 Shell, SQL, Python, DataX 等。</a:t>
            </a:r>
            <a:endParaRPr lang="en-US" sz="1600" dirty="0"/>
          </a:p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工作流编排</a:t>
            </a:r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：基于 DAG 的可视化设计。</a:t>
            </a:r>
            <a:endParaRPr lang="en-US" sz="1600" dirty="0"/>
          </a:p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调度策略</a:t>
            </a:r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：支持 Quartz Cron 定时调度。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08599" y="1162050"/>
            <a:ext cx="4254401" cy="3600450"/>
          </a:xfrm>
          <a:prstGeom prst="roundRect">
            <a:avLst>
              <a:gd name="adj" fmla="val 2822"/>
            </a:avLst>
          </a:prstGeom>
          <a:solidFill>
            <a:srgbClr val="2837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0" y="1415951"/>
            <a:ext cx="38215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60"/>
              </a:spcAft>
              <a:buNone/>
            </a:pPr>
            <a:r>
              <a:rPr lang="en-US" sz="2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核心特性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62500" y="1979116"/>
            <a:ext cx="382153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系统支持任务实例的状态流转、全日志记录、自动依赖检查与补数（Backfill）机制。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71525"/>
            <a:ext cx="9144000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66688"/>
            <a:ext cx="22975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分布式执行器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0040" y="1738313"/>
            <a:ext cx="1943100" cy="1054001"/>
          </a:xfrm>
          <a:prstGeom prst="roundRect">
            <a:avLst>
              <a:gd name="adj" fmla="val 9639"/>
            </a:avLst>
          </a:prstGeom>
          <a:solidFill>
            <a:srgbClr val="283747"/>
          </a:solidFill>
          <a:ln w="19050">
            <a:solidFill>
              <a:srgbClr val="5DADE2"/>
            </a:solidFill>
          </a:ln>
          <a:effectLst>
            <a:outerShdw sx="100000" sy="100000" kx="0" ky="0" algn="bl" rotWithShape="0" blurRad="127000" dist="71842" dir="27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25141" y="2122438"/>
            <a:ext cx="8290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任务拉取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61221" y="2051000"/>
            <a:ext cx="3886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3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00450" y="1738313"/>
            <a:ext cx="1943100" cy="1054001"/>
          </a:xfrm>
          <a:prstGeom prst="roundRect">
            <a:avLst>
              <a:gd name="adj" fmla="val 9639"/>
            </a:avLst>
          </a:prstGeom>
          <a:solidFill>
            <a:srgbClr val="283747"/>
          </a:solidFill>
          <a:ln w="19050">
            <a:solidFill>
              <a:srgbClr val="5DADE2"/>
            </a:solidFill>
          </a:ln>
          <a:effectLst>
            <a:outerShdw sx="100000" sy="100000" kx="0" ky="0" algn="bl" rotWithShape="0" blurRad="127000" dist="71842" dir="27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64050" y="2122438"/>
            <a:ext cx="10362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线程池执行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01630" y="2051000"/>
            <a:ext cx="3886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3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640860" y="1738313"/>
            <a:ext cx="1943100" cy="1054001"/>
          </a:xfrm>
          <a:prstGeom prst="roundRect">
            <a:avLst>
              <a:gd name="adj" fmla="val 9639"/>
            </a:avLst>
          </a:prstGeom>
          <a:solidFill>
            <a:srgbClr val="283747"/>
          </a:solidFill>
          <a:ln w="19050">
            <a:solidFill>
              <a:srgbClr val="5DADE2"/>
            </a:solidFill>
          </a:ln>
          <a:effectLst>
            <a:outerShdw sx="100000" sy="100000" kx="0" ky="0" algn="bl" rotWithShape="0" blurRad="127000" dist="71842" dir="27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05960" y="2122438"/>
            <a:ext cx="8290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状态回报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7180" y="3368576"/>
            <a:ext cx="85496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实时日志采集 · 超时强制终止 · 并发限制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71525"/>
            <a:ext cx="9144000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66688"/>
            <a:ext cx="323025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元数据与数据源管理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7950" y="1908423"/>
            <a:ext cx="3937099" cy="0"/>
          </a:xfrm>
          <a:prstGeom prst="line">
            <a:avLst/>
          </a:prstGeom>
          <a:noFill/>
          <a:ln w="19050">
            <a:solidFill>
              <a:srgbClr val="5DAD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950" y="1584573"/>
            <a:ext cx="401584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数据源管理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7950" y="2095649"/>
            <a:ext cx="40158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统一管理 RDBMS, NoSQL 与大数据源连接。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98950" y="1908423"/>
            <a:ext cx="3937099" cy="0"/>
          </a:xfrm>
          <a:prstGeom prst="line">
            <a:avLst/>
          </a:prstGeom>
          <a:noFill/>
          <a:ln w="19050">
            <a:solidFill>
              <a:srgbClr val="5DA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8950" y="1584573"/>
            <a:ext cx="401584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模型管理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98950" y="2095649"/>
            <a:ext cx="401584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支持逻辑数据模型 (LDM) 与物理数据模型 (PDM) 关联。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7950" y="3409950"/>
            <a:ext cx="8128099" cy="0"/>
          </a:xfrm>
          <a:prstGeom prst="line">
            <a:avLst/>
          </a:prstGeom>
          <a:noFill/>
          <a:ln w="19050">
            <a:solidFill>
              <a:srgbClr val="5DAD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950" y="3086100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解析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7950" y="3597176"/>
            <a:ext cx="8290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多方言 SQL 深度解析，精准捕捉元数据特征。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71525"/>
            <a:ext cx="9144000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66688"/>
            <a:ext cx="22975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血缘分析引擎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18605" y="2786063"/>
            <a:ext cx="221619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[血缘深度追踪示意]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37050" y="2048024"/>
            <a:ext cx="4025950" cy="1828354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字段级</a:t>
            </a:r>
            <a:pPr algn="l" indent="0" marL="0">
              <a:lnSpc>
                <a:spcPts val="2880"/>
              </a:lnSpc>
              <a:buNone/>
            </a:pPr>
            <a:r>
              <a:rPr lang="en-US" sz="16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血缘追踪。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支持多方言（Oracle, Hive, MySQL 等）。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</a:t>
            </a:r>
            <a:pPr algn="l" indent="0" marL="0">
              <a:lnSpc>
                <a:spcPts val="2880"/>
              </a:lnSpc>
              <a:buNone/>
            </a:pPr>
            <a:r>
              <a:rPr lang="en-US" sz="16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监管报送</a:t>
            </a:r>
            <a:pPr algn="l" indent="0" marL="0">
              <a:lnSpc>
                <a:spcPts val="2880"/>
              </a:lnSpc>
              <a:buNone/>
            </a:pPr>
            <a:r>
              <a:rPr lang="en-US" sz="16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场景深度优化。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上下游依赖关系全景展示。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71525"/>
            <a:ext cx="9144000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66688"/>
            <a:ext cx="359276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智能检索与问答 (RAG)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098352"/>
            <a:ext cx="4006751" cy="949226"/>
          </a:xfrm>
          <a:prstGeom prst="roundRect">
            <a:avLst>
              <a:gd name="adj" fmla="val 8028"/>
            </a:avLst>
          </a:prstGeom>
          <a:solidFill>
            <a:srgbClr val="283747"/>
          </a:solidFill>
          <a:ln w="9525">
            <a:solidFill>
              <a:srgbClr val="2E86C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2925" y="1260277"/>
            <a:ext cx="375655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语义检索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2925" y="1638002"/>
            <a:ext cx="37565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向量检索与关键词混合召回。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8251" y="1098352"/>
            <a:ext cx="4006751" cy="949226"/>
          </a:xfrm>
          <a:prstGeom prst="roundRect">
            <a:avLst>
              <a:gd name="adj" fmla="val 8028"/>
            </a:avLst>
          </a:prstGeom>
          <a:solidFill>
            <a:srgbClr val="283747"/>
          </a:solidFill>
          <a:ln w="9525">
            <a:solidFill>
              <a:srgbClr val="2E86C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40176" y="1260277"/>
            <a:ext cx="375655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业务解释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40176" y="1638002"/>
            <a:ext cx="37565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基于知识库辅助解释复杂 SQL。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1000" y="2238077"/>
            <a:ext cx="4006751" cy="949226"/>
          </a:xfrm>
          <a:prstGeom prst="roundRect">
            <a:avLst>
              <a:gd name="adj" fmla="val 8028"/>
            </a:avLst>
          </a:prstGeom>
          <a:solidFill>
            <a:srgbClr val="283747"/>
          </a:solidFill>
          <a:ln w="9525">
            <a:solidFill>
              <a:srgbClr val="2E86C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2925" y="2400002"/>
            <a:ext cx="375655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知识精炼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2925" y="2777728"/>
            <a:ext cx="37565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自动生成 Q&amp;A 索引提升召回率。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8251" y="2238077"/>
            <a:ext cx="4006751" cy="949226"/>
          </a:xfrm>
          <a:prstGeom prst="roundRect">
            <a:avLst>
              <a:gd name="adj" fmla="val 8028"/>
            </a:avLst>
          </a:prstGeom>
          <a:solidFill>
            <a:srgbClr val="283747"/>
          </a:solidFill>
          <a:ln w="9525">
            <a:solidFill>
              <a:srgbClr val="2E86C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40176" y="2400002"/>
            <a:ext cx="375655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资产录入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40176" y="2777728"/>
            <a:ext cx="37565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支持文档、SQL、血缘自动同步。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71525"/>
            <a:ext cx="9144000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66688"/>
            <a:ext cx="22975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统一管理门户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25700" y="1690836"/>
            <a:ext cx="5092601" cy="2542729"/>
          </a:xfrm>
          <a:prstGeom prst="roundRect">
            <a:avLst>
              <a:gd name="adj" fmla="val 5994"/>
            </a:avLst>
          </a:prstGeom>
          <a:solidFill>
            <a:srgbClr val="283747"/>
          </a:solidFill>
          <a:ln w="19050">
            <a:solidFill>
              <a:srgbClr val="5DADE2"/>
            </a:solidFill>
          </a:ln>
          <a:effectLst>
            <a:outerShdw sx="100000" sy="100000" kx="0" ky="0" algn="bl" rotWithShape="0" blurRad="254000" dist="50800" dir="162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382825" y="2090886"/>
            <a:ext cx="437835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324"/>
              </a:spcAft>
              <a:buNone/>
            </a:pPr>
            <a:r>
              <a:rPr lang="en-US" sz="28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一站式运维监控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382825" y="2890838"/>
            <a:ext cx="43783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buNone/>
            </a:pPr>
            <a:r>
              <a:rPr lang="en-US" sz="18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可视化编排 · 任务在线调试 · 实时日志查看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95898" y="3459063"/>
            <a:ext cx="914251" cy="374452"/>
          </a:xfrm>
          <a:prstGeom prst="roundRect">
            <a:avLst>
              <a:gd name="adj" fmla="val 67833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081065" y="3522464"/>
            <a:ext cx="5439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仪表盘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7099" y="3459063"/>
            <a:ext cx="1091952" cy="374452"/>
          </a:xfrm>
          <a:prstGeom prst="roundRect">
            <a:avLst>
              <a:gd name="adj" fmla="val 67833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20490" y="3522464"/>
            <a:ext cx="7251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运维中心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56002" y="3459063"/>
            <a:ext cx="1091952" cy="374452"/>
          </a:xfrm>
          <a:prstGeom prst="roundRect">
            <a:avLst>
              <a:gd name="adj" fmla="val 67833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39392" y="3522464"/>
            <a:ext cx="7251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系统管理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71525"/>
            <a:ext cx="9144000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66688"/>
            <a:ext cx="26084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技术指标与安全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162050"/>
            <a:ext cx="4000500" cy="3600450"/>
          </a:xfrm>
          <a:prstGeom prst="roundRect">
            <a:avLst>
              <a:gd name="adj" fmla="val 2822"/>
            </a:avLst>
          </a:prstGeom>
          <a:solidFill>
            <a:srgbClr val="283747"/>
          </a:solidFill>
          <a:ln w="9525">
            <a:solidFill>
              <a:srgbClr val="5DADE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81025" y="1719263"/>
            <a:ext cx="3600450" cy="0"/>
          </a:xfrm>
          <a:prstGeom prst="line">
            <a:avLst/>
          </a:prstGeom>
          <a:noFill/>
          <a:ln w="9525">
            <a:solidFill>
              <a:srgbClr val="5DAD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1025" y="1362075"/>
            <a:ext cx="367245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非功能性需求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1025" y="1901726"/>
            <a:ext cx="3600450" cy="74295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400" b="1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</a:t>
            </a:r>
            <a:pPr algn="l" indent="0" marL="0">
              <a:buNone/>
            </a:pPr>
            <a:r>
              <a:rPr lang="en-US" sz="14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：秒级调度延迟。</a:t>
            </a:r>
            <a:endParaRPr lang="en-US" sz="1400" dirty="0"/>
          </a:p>
          <a:p>
            <a:pPr algn="l" marL="190500" indent="-190500">
              <a:buSzPct val="100000"/>
              <a:buChar char="•"/>
            </a:pPr>
            <a:r>
              <a:rPr lang="en-US" sz="1400" b="1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高可用</a:t>
            </a:r>
            <a:pPr algn="l" indent="0" marL="0">
              <a:buNone/>
            </a:pPr>
            <a:r>
              <a:rPr lang="en-US" sz="14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：集群化部署。</a:t>
            </a:r>
            <a:endParaRPr lang="en-US" sz="1400" dirty="0"/>
          </a:p>
          <a:p>
            <a:pPr algn="l" marL="190500" indent="-190500">
              <a:buSzPct val="100000"/>
              <a:buChar char="•"/>
            </a:pPr>
            <a:r>
              <a:rPr lang="en-US" sz="1400" b="1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</a:t>
            </a:r>
            <a:pPr algn="l" indent="0" marL="0">
              <a:buNone/>
            </a:pPr>
            <a:r>
              <a:rPr lang="en-US" sz="14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：插件化任务与方言。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62500" y="1162050"/>
            <a:ext cx="4000500" cy="3600450"/>
          </a:xfrm>
          <a:prstGeom prst="roundRect">
            <a:avLst>
              <a:gd name="adj" fmla="val 2822"/>
            </a:avLst>
          </a:prstGeom>
          <a:solidFill>
            <a:srgbClr val="283747"/>
          </a:solidFill>
          <a:ln w="952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962525" y="1719263"/>
            <a:ext cx="3600450" cy="0"/>
          </a:xfrm>
          <a:prstGeom prst="line">
            <a:avLst/>
          </a:prstGeom>
          <a:noFill/>
          <a:ln w="9525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2525" y="1362075"/>
            <a:ext cx="367245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安全与合规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62525" y="1901726"/>
            <a:ext cx="3600450" cy="74295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4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敏感数据加密存储。</a:t>
            </a:r>
            <a:endParaRPr lang="en-US" sz="1400" dirty="0"/>
          </a:p>
          <a:p>
            <a:pPr algn="l" marL="190500" indent="-190500">
              <a:buSzPct val="100000"/>
              <a:buChar char="•"/>
            </a:pPr>
            <a:r>
              <a:rPr lang="en-US" sz="14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权限体系。</a:t>
            </a:r>
            <a:endParaRPr lang="en-US" sz="1400" dirty="0"/>
          </a:p>
          <a:p>
            <a:pPr algn="l" marL="190500" indent="-190500">
              <a:buSzPct val="100000"/>
              <a:buChar char="•"/>
            </a:pPr>
            <a:r>
              <a:rPr lang="en-US" sz="14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完整操作审计日志。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URGS 项目业务需求文档</dc:title>
  <dc:subject>PptxGenJS Presentation</dc:subject>
  <dc:creator>Antigravity AI</dc:creator>
  <cp:lastModifiedBy>Antigravity AI</cp:lastModifiedBy>
  <cp:revision>1</cp:revision>
  <dcterms:created xsi:type="dcterms:W3CDTF">2026-01-25T03:33:55Z</dcterms:created>
  <dcterms:modified xsi:type="dcterms:W3CDTF">2026-01-25T03:33:55Z</dcterms:modified>
</cp:coreProperties>
</file>